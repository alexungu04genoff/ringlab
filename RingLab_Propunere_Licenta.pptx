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72e64d6cb0b4005" /><Relationship Type="http://schemas.openxmlformats.org/officeDocument/2006/relationships/extended-properties" Target="/docProps/app.xml" Id="Rf8bf01b79e584372" /><Relationship Type="http://schemas.openxmlformats.org/officeDocument/2006/relationships/officeDocument" Target="/ppt/presentation.xml" Id="Re5da21cde6174872" /></Relationships>
</file>

<file path=ppt/presentation.xml><?xml version="1.0" encoding="utf-8"?>
<p:presentation xmlns:p="http://schemas.openxmlformats.org/presentationml/2006/main">
  <p:sldMasterIdLst>
    <p:sldMasterId xmlns:r="http://schemas.openxmlformats.org/officeDocument/2006/relationships" id="2147483648" r:id="R1b7f9c9639234208"/>
  </p:sldMasterIdLst>
  <p:notesMasterIdLst>
    <p:notesMasterId xmlns:r="http://schemas.openxmlformats.org/officeDocument/2006/relationships" r:id="R5c8a310c98bb4370"/>
  </p:notesMasterIdLst>
  <p:sldIdLst>
    <p:sldId xmlns:r="http://schemas.openxmlformats.org/officeDocument/2006/relationships" id="256" r:id="R4dc1d14f21d5479b"/>
    <p:sldId xmlns:r="http://schemas.openxmlformats.org/officeDocument/2006/relationships" id="257" r:id="Rb4293d42f8374c5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9d769e64bbb413c" /><Relationship Type="http://schemas.openxmlformats.org/officeDocument/2006/relationships/slideMaster" Target="/ppt/slideMasters/slideMaster1.xml" Id="R1b7f9c9639234208" /><Relationship Type="http://schemas.openxmlformats.org/officeDocument/2006/relationships/notesMaster" Target="/ppt/notesMasters/notesMaster1.xml" Id="R5c8a310c98bb4370" /><Relationship Type="http://schemas.openxmlformats.org/officeDocument/2006/relationships/presProps" Target="/ppt/presProps.xml" Id="Rdd2af13d58eb4e55" /><Relationship Type="http://schemas.openxmlformats.org/officeDocument/2006/relationships/tableStyles" Target="/ppt/tableStyles.xml" Id="R95d4717443a54c40" /><Relationship Type="http://schemas.openxmlformats.org/officeDocument/2006/relationships/slide" Target="/ppt/slides/slide1.xml" Id="R4dc1d14f21d5479b" /><Relationship Type="http://schemas.openxmlformats.org/officeDocument/2006/relationships/slide" Target="/ppt/slides/slide2.xml" Id="Rb4293d42f8374c5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76347b597a249a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0e8506df3124db8" /><Relationship Type="http://schemas.openxmlformats.org/officeDocument/2006/relationships/notesMaster" Target="/ppt/notesMasters/notesMaster1.xml" Id="R131127ac5ecb48b0" /></Relationships>
</file>

<file path=ppt/notesSlides/_rels/notesSlide2.xml.rels>&#65279;<?xml version="1.0" encoding="utf-8"?><Relationships xmlns="http://schemas.openxmlformats.org/package/2006/relationships"><Relationship Type="http://schemas.openxmlformats.org/officeDocument/2006/relationships/slide" Target="/ppt/slides/slide2.xml" Id="R3e8451cbd5b04769" /><Relationship Type="http://schemas.openxmlformats.org/officeDocument/2006/relationships/notesMaster" Target="/ppt/notesMasters/notesMaster1.xml" Id="R3f03a58160c0493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Mă numesc Alexandru-Tudor Ungureanu și sunt student la specializarea Informatică, în cadrul Facultății de Automatică și Calculatoare. Intenționez să susțin lucrarea de licență în februarie 2027.</a:t>
            </a:r>
          </a:p>
          <a:p xmlns:a="http://schemas.openxmlformats.org/drawingml/2006/main">
            <a:r>
              <a:t/>
            </a:r>
          </a:p>
          <a:p xmlns:a="http://schemas.openxmlformats.org/drawingml/2006/main">
            <a:r>
              <a:t>RingLab este o platformă web de comunitate pentru crearea, partajarea și evaluarea configurațiilor de joc. Sonic Racing: CrossWorlds este studiul de caz. O configurație reunește un personaj, o componentă FRONT, una REAR și una TIRE, plus o listă ordonată de gadget-uri. Componentele pot proveni din vehicule diferite. Scopul este ca un alt jucător să poată consulta și reproduce combinația.</a:t>
            </a:r>
          </a:p>
          <a:p xmlns:a="http://schemas.openxmlformats.org/drawingml/2006/main">
            <a:r>
              <a:t/>
            </a:r>
          </a:p>
          <a:p xmlns:a="http://schemas.openxmlformats.org/drawingml/2006/main">
            <a:r>
              <a:t>Prototipul include înregistrare și autentificare, crearea și editarea configurațiilor, voturi pozitive sau negative, comentarii, căutare și filtrare cu paginare, asocierea opțională cu o versiune a jocului și preluarea știrilor prin API-ul Steam. Captura arată filtrele, ordonarea Best rated, voturile, versiunile și știrile. Numărul de configurații, utilizatorii, voturile și comentariile din mediul demonstrativ nu reprezintă adopție reală sau rezultate ale unui studiu cu utilizatori.</a:t>
            </a:r>
          </a:p>
          <a:p xmlns:a="http://schemas.openxmlformats.org/drawingml/2006/main">
            <a:r>
              <a:t/>
            </a:r>
          </a:p>
          <a:p xmlns:a="http://schemas.openxmlformats.org/drawingml/2006/main">
            <a:r>
              <a:t>Surse interne: E:/RingLab/README.md, E:/RingLab/docs/architecture.md, E:/RingLab/frontend/src/pages/Explore.tsx. Captură proprie a aplicației locale http://localhost:5173/?sort=rated, realizată la 12 septembrie 2026. Imaginile jocului provin din activele locale aprobate ale proiectului. Proveniența lor este documentată în E:/RingLab/docs/game-data-sources.md. Prezentare academică a unui proiect educațional, fără afiliere oficială cu jocul.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Prototipul folosește Java 21 cu Quarkus, PostgreSQL și un frontend React cu TypeScript. Backendul este un monolit modular cu o arhitectură hexagonală pragmatică. Domeniul folosește tipuri Java independente de infrastructură. Serviciile aplicației orchestrează cazurile de utilizare, iar porturile definesc contractele către baza de date și știrile Steam. Adaptoarele REST, PostgreSQL și Steam implementează legăturile cu infrastructura. REST apelează serviciile direct, fără interfețe de intrare artificiale.</a:t>
            </a:r>
          </a:p>
          <a:p xmlns:a="http://schemas.openxmlformats.org/drawingml/2006/main">
            <a:r>
              <a:t/>
            </a:r>
          </a:p>
          <a:p xmlns:a="http://schemas.openxmlformats.org/drawingml/2006/main">
            <a:r>
              <a:t>Ordonarea Best rated grupează mai întâi configurațiile după semnul scorului net: pozitiv, zero, negativ. În interiorul fiecărui grup, ordonarea folosește descrescător limita inferioară Wilson, cu z = 1,96, aproximativ 95% încredere. Urmează scorul net, data creării și ID-ul pentru departajare. Astfel, o proporție pozitivă bazată pe puține voturi este tratată cu mai multă prudență. Aceasta este o adaptare a unei metode statistice existente. Nu reprezintă un algoritm statistic original sau dovada unei calități obiective a configurațiilor.</a:t>
            </a:r>
          </a:p>
          <a:p xmlns:a="http://schemas.openxmlformats.org/drawingml/2006/main">
            <a:r>
              <a:t/>
            </a:r>
          </a:p>
          <a:p xmlns:a="http://schemas.openxmlformats.org/drawingml/2006/main">
            <a:r>
              <a:t>BuildService validează existența personajului, tipurile componentelor FRONT, REAR și TIRE, versiunea opțională și gadget-urile. Gadget-urile trebuie să fie distincte și să aibă costuri cunoscute între 1 și 3. GadgetPlate caută recursiv o repartizare posibilă în două rânduri de câte trei sloturi. Simplul total de cel mult șase nu este suficient: trei gadget-uri de cost 2 nu pot fi repartizate în cele două rânduri fără a depăși capacitatea unuia dintre ele. Exemplul din captură are costurile 1, 3 și 2. O repartizare posibilă este 3 pe un rând și 1 + 2 pe celălalt.</a:t>
            </a:r>
          </a:p>
          <a:p xmlns:a="http://schemas.openxmlformats.org/drawingml/2006/main">
            <a:r>
              <a:t/>
            </a:r>
          </a:p>
          <a:p xmlns:a="http://schemas.openxmlformats.org/drawingml/2006/main">
            <a:r>
              <a:t>Validarea folosește costurile curente din catalog. Nu modelează toate regulile de compatibilitate și nu aplică reguli istorice în funcție de versiunea jocului. Asocierea unei configurații cu o versiune este metadată, distinctă de această validare.</a:t>
            </a:r>
          </a:p>
          <a:p xmlns:a="http://schemas.openxmlformats.org/drawingml/2006/main">
            <a:r>
              <a:t/>
            </a:r>
          </a:p>
          <a:p xmlns:a="http://schemas.openxmlformats.org/drawingml/2006/main">
            <a:r>
              <a:t>Proiectul conține teste unitare pentru domeniu și servicii, precum și teste REST, de securitate și persistență. Exemple: GadgetPlateTest, BuildServiceTest, BuildRankingIntegrationTest și AcceptanceTest.</a:t>
            </a:r>
          </a:p>
          <a:p xmlns:a="http://schemas.openxmlformats.org/drawingml/2006/main">
            <a:r>
              <a:t/>
            </a:r>
          </a:p>
          <a:p xmlns:a="http://schemas.openxmlformats.org/drawingml/2006/main">
            <a:r>
              <a:t>Direcția propusă pentru discuția cu profesoara este stabilirea obiectivelor finale, a modului de evaluare a soluției și a structurii documentației. Pot prezenta prototipul și arhitectura într-o scurtă întâlnire.</a:t>
            </a:r>
          </a:p>
          <a:p xmlns:a="http://schemas.openxmlformats.org/drawingml/2006/main">
            <a:r>
              <a:t/>
            </a:r>
          </a:p>
          <a:p xmlns:a="http://schemas.openxmlformats.org/drawingml/2006/main">
            <a:r>
              <a:t>Surse interne: E:/RingLab/docs/architecture.md, E:/RingLab/backend/src/main/java/dev/ringlab/application/build/BuildService.java, E:/RingLab/backend/src/main/java/dev/ringlab/domain/build/GadgetPlate.java, E:/RingLab/backend/src/main/java/dev/ringlab/adapter/out/db/build/BuildDbAdapter.java și clasele de test din E:/RingLab/backend/src/test/java/dev/ringlab/. Captură proprie a paginii http://localhost:5173/builds/de9309ee-094f-45b1-a0fe-64e6b7968ad0, la 12 septembrie 2026. Date demonstrative. Proveniența activelor de joc: E:/RingLab/docs/game-data-sources.md.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132ff7fab4c446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34e41fbd0e84ecc" /><Relationship Type="http://schemas.openxmlformats.org/officeDocument/2006/relationships/slideLayout" Target="/ppt/slideLayouts/slideLayout1.xml" Id="Rb9081551fd254d5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9081551fd254d5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a2b8aee9686473f" /><Relationship Type="http://schemas.openxmlformats.org/officeDocument/2006/relationships/image" Target="/ppt/media/image.png" Id="R9b2cdc1e87104c0f" /><Relationship Type="http://schemas.openxmlformats.org/officeDocument/2006/relationships/notesSlide" Target="/ppt/notesSlides/notesSlide1.xml" Id="R26029bde0a304f4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a326dad06384dea" /><Relationship Type="http://schemas.openxmlformats.org/officeDocument/2006/relationships/image" Target="/ppt/media/image2.png" Id="Rf4ec7604ce9c4a75" /><Relationship Type="http://schemas.openxmlformats.org/officeDocument/2006/relationships/notesSlide" Target="/ppt/notesSlides/notesSlide2.xml" Id="R32a0e5a71dfa4db9" /></Relationships>
</file>

<file path=ppt/slides/slide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2" name="project-title">
            <a:extLst xmlns:a="http://schemas.openxmlformats.org/drawingml/2006/main">
              <a:ext uri="{FF2B5EF4-FFF2-40B4-BE49-F238E27FC236}">
                <a16:creationId xmlns:a16="http://schemas.microsoft.com/office/drawing/2014/main" id="{A6E6C630-D13D-443D-9A1B-FE9FCBC342C8}"/>
              </a:ext>
            </a:extLst>
          </p:cNvPr>
          <p:cNvSpPr>
            <a:spLocks xmlns:a="http://schemas.openxmlformats.org/drawingml/2006/main" noGrp="1"/>
          </p:cNvSpPr>
          <p:nvPr/>
        </p:nvSpPr>
        <p:spPr>
          <a:xfrm xmlns:a="http://schemas.openxmlformats.org/drawingml/2006/main">
            <a:off x="571500" y="304800"/>
            <a:ext cx="523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700" b="1">
                <a:solidFill>
                  <a:srgbClr val="0979BE"/>
                </a:solidFill>
                <a:latin typeface="Calibri"/>
                <a:ea typeface="Calibri"/>
                <a:cs typeface="Calibri"/>
              </a:defRPr>
            </a:pPr>
            <a:r>
              <a:rPr sz="5700" b="1">
                <a:solidFill>
                  <a:srgbClr val="0979BE"/>
                </a:solidFill>
                <a:latin typeface="Calibri"/>
                <a:ea typeface="Calibri"/>
                <a:cs typeface="Calibri"/>
              </a:rPr>
              <a:t>RingLab</a:t>
            </a:r>
          </a:p>
        </p:txBody>
      </p:sp>
      <p:sp>
        <p:nvSpPr>
          <p:cNvPr id="2" name="project-subtitle">
            <a:extLst xmlns:a="http://schemas.openxmlformats.org/drawingml/2006/main">
              <a:ext uri="{FF2B5EF4-FFF2-40B4-BE49-F238E27FC236}">
                <a16:creationId xmlns:a16="http://schemas.microsoft.com/office/drawing/2014/main" id="{2782919E-4378-4655-9D24-5090F7713C1B}"/>
              </a:ext>
            </a:extLst>
          </p:cNvPr>
          <p:cNvSpPr>
            <a:spLocks xmlns:a="http://schemas.openxmlformats.org/drawingml/2006/main" noGrp="1"/>
          </p:cNvSpPr>
          <p:nvPr/>
        </p:nvSpPr>
        <p:spPr>
          <a:xfrm xmlns:a="http://schemas.openxmlformats.org/drawingml/2006/main">
            <a:off x="590550" y="1209675"/>
            <a:ext cx="110013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925" b="1">
                <a:solidFill>
                  <a:srgbClr val="102A43"/>
                </a:solidFill>
                <a:latin typeface="Calibri"/>
                <a:ea typeface="Calibri"/>
                <a:cs typeface="Calibri"/>
              </a:defRPr>
            </a:pPr>
            <a:r>
              <a:rPr sz="2925" b="1">
                <a:solidFill>
                  <a:srgbClr val="102A43"/>
                </a:solidFill>
                <a:latin typeface="Calibri"/>
                <a:ea typeface="Calibri"/>
                <a:cs typeface="Calibri"/>
              </a:rPr>
              <a:t>Platformă web pentru configurații de joc</a:t>
            </a:r>
          </a:p>
        </p:txBody>
      </p:sp>
      <p:sp>
        <p:nvSpPr>
          <p:cNvPr id="3" name="case-study">
            <a:extLst xmlns:a="http://schemas.openxmlformats.org/drawingml/2006/main">
              <a:ext uri="{FF2B5EF4-FFF2-40B4-BE49-F238E27FC236}">
                <a16:creationId xmlns:a16="http://schemas.microsoft.com/office/drawing/2014/main" id="{2E08A1DE-09BB-48BD-918C-93860A650C0F}"/>
              </a:ext>
            </a:extLst>
          </p:cNvPr>
          <p:cNvSpPr>
            <a:spLocks xmlns:a="http://schemas.openxmlformats.org/drawingml/2006/main" noGrp="1"/>
          </p:cNvSpPr>
          <p:nvPr/>
        </p:nvSpPr>
        <p:spPr>
          <a:xfrm xmlns:a="http://schemas.openxmlformats.org/drawingml/2006/main">
            <a:off x="609600" y="1790700"/>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26B80"/>
                </a:solidFill>
                <a:latin typeface="Calibri"/>
                <a:ea typeface="Calibri"/>
                <a:cs typeface="Calibri"/>
              </a:defRPr>
            </a:pPr>
            <a:r>
              <a:rPr sz="1875" b="0">
                <a:solidFill>
                  <a:srgbClr val="526B80"/>
                </a:solidFill>
                <a:latin typeface="Calibri"/>
                <a:ea typeface="Calibri"/>
                <a:cs typeface="Calibri"/>
              </a:rPr>
              <a:t>Studiu de caz: Sonic Racing: CrossWorlds</a:t>
            </a:r>
          </a:p>
        </p:txBody>
      </p:sp>
      <p:sp>
        <p:nvSpPr>
          <p:cNvPr id="4" name="purpose-heading">
            <a:extLst xmlns:a="http://schemas.openxmlformats.org/drawingml/2006/main">
              <a:ext uri="{FF2B5EF4-FFF2-40B4-BE49-F238E27FC236}">
                <a16:creationId xmlns:a16="http://schemas.microsoft.com/office/drawing/2014/main" id="{BE9250D7-3511-4D29-A717-10F8ACC81551}"/>
              </a:ext>
            </a:extLst>
          </p:cNvPr>
          <p:cNvSpPr>
            <a:spLocks xmlns:a="http://schemas.openxmlformats.org/drawingml/2006/main" noGrp="1"/>
          </p:cNvSpPr>
          <p:nvPr/>
        </p:nvSpPr>
        <p:spPr>
          <a:xfrm xmlns:a="http://schemas.openxmlformats.org/drawingml/2006/main">
            <a:off x="609600" y="2524125"/>
            <a:ext cx="3009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02A43"/>
                </a:solidFill>
                <a:latin typeface="Calibri"/>
                <a:ea typeface="Calibri"/>
                <a:cs typeface="Calibri"/>
              </a:defRPr>
            </a:pPr>
            <a:r>
              <a:rPr sz="2175" b="1">
                <a:solidFill>
                  <a:srgbClr val="102A43"/>
                </a:solidFill>
                <a:latin typeface="Calibri"/>
                <a:ea typeface="Calibri"/>
                <a:cs typeface="Calibri"/>
              </a:rPr>
              <a:t>Ideea proiectului</a:t>
            </a:r>
          </a:p>
        </p:txBody>
      </p:sp>
      <p:sp>
        <p:nvSpPr>
          <p:cNvPr id="5" name="purpose-body">
            <a:extLst xmlns:a="http://schemas.openxmlformats.org/drawingml/2006/main">
              <a:ext uri="{FF2B5EF4-FFF2-40B4-BE49-F238E27FC236}">
                <a16:creationId xmlns:a16="http://schemas.microsoft.com/office/drawing/2014/main" id="{77C559F0-F22D-49F9-ADE3-7714B9F41208}"/>
              </a:ext>
            </a:extLst>
          </p:cNvPr>
          <p:cNvSpPr>
            <a:spLocks xmlns:a="http://schemas.openxmlformats.org/drawingml/2006/main" noGrp="1"/>
          </p:cNvSpPr>
          <p:nvPr/>
        </p:nvSpPr>
        <p:spPr>
          <a:xfrm xmlns:a="http://schemas.openxmlformats.org/drawingml/2006/main">
            <a:off x="609600" y="2943225"/>
            <a:ext cx="30099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243B53"/>
                </a:solidFill>
                <a:latin typeface="Calibri"/>
                <a:ea typeface="Calibri"/>
                <a:cs typeface="Calibri"/>
              </a:defRPr>
            </a:pPr>
            <a:r>
              <a:rPr sz="2025" b="0">
                <a:solidFill>
                  <a:srgbClr val="243B53"/>
                </a:solidFill>
                <a:latin typeface="Calibri"/>
                <a:ea typeface="Calibri"/>
                <a:cs typeface="Calibri"/>
              </a:rPr>
              <a:t>Jucătorii creează, partajează și evaluează configurații pe care le pot reproduce în joc.</a:t>
            </a:r>
          </a:p>
        </p:txBody>
      </p:sp>
      <p:sp>
        <p:nvSpPr>
          <p:cNvPr id="6" name="configuration-heading">
            <a:extLst xmlns:a="http://schemas.openxmlformats.org/drawingml/2006/main">
              <a:ext uri="{FF2B5EF4-FFF2-40B4-BE49-F238E27FC236}">
                <a16:creationId xmlns:a16="http://schemas.microsoft.com/office/drawing/2014/main" id="{562930BE-7525-4C2C-88B8-D08EC82CFCAA}"/>
              </a:ext>
            </a:extLst>
          </p:cNvPr>
          <p:cNvSpPr>
            <a:spLocks xmlns:a="http://schemas.openxmlformats.org/drawingml/2006/main" noGrp="1"/>
          </p:cNvSpPr>
          <p:nvPr/>
        </p:nvSpPr>
        <p:spPr>
          <a:xfrm xmlns:a="http://schemas.openxmlformats.org/drawingml/2006/main">
            <a:off x="609600" y="4457700"/>
            <a:ext cx="3028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102A43"/>
                </a:solidFill>
                <a:latin typeface="Calibri"/>
                <a:ea typeface="Calibri"/>
                <a:cs typeface="Calibri"/>
              </a:defRPr>
            </a:pPr>
            <a:r>
              <a:rPr sz="2025" b="1">
                <a:solidFill>
                  <a:srgbClr val="102A43"/>
                </a:solidFill>
                <a:latin typeface="Calibri"/>
                <a:ea typeface="Calibri"/>
                <a:cs typeface="Calibri"/>
              </a:rPr>
              <a:t>O configurație include</a:t>
            </a:r>
          </a:p>
        </p:txBody>
      </p:sp>
      <p:sp>
        <p:nvSpPr>
          <p:cNvPr id="7" name="configuration-body">
            <a:extLst xmlns:a="http://schemas.openxmlformats.org/drawingml/2006/main">
              <a:ext uri="{FF2B5EF4-FFF2-40B4-BE49-F238E27FC236}">
                <a16:creationId xmlns:a16="http://schemas.microsoft.com/office/drawing/2014/main" id="{8214C233-DB47-46CA-A176-F8BA21E5D1F0}"/>
              </a:ext>
            </a:extLst>
          </p:cNvPr>
          <p:cNvSpPr>
            <a:spLocks xmlns:a="http://schemas.openxmlformats.org/drawingml/2006/main" noGrp="1"/>
          </p:cNvSpPr>
          <p:nvPr/>
        </p:nvSpPr>
        <p:spPr>
          <a:xfrm xmlns:a="http://schemas.openxmlformats.org/drawingml/2006/main">
            <a:off x="609600" y="4857750"/>
            <a:ext cx="30099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243B53"/>
                </a:solidFill>
                <a:latin typeface="Calibri"/>
                <a:ea typeface="Calibri"/>
                <a:cs typeface="Calibri"/>
              </a:defRPr>
            </a:pPr>
            <a:r>
              <a:rPr sz="1950" b="0">
                <a:solidFill>
                  <a:srgbClr val="243B53"/>
                </a:solidFill>
                <a:latin typeface="Calibri"/>
                <a:ea typeface="Calibri"/>
                <a:cs typeface="Calibri"/>
              </a:rPr>
              <a:t>Un personaj, componentele vehiculului și gadget-uri.</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9b2cdc1e87104c0f"/>
          <a:stretch xmlns:a="http://schemas.openxmlformats.org/drawingml/2006/main"/>
        </p:blipFill>
        <p:spPr>
          <a:xfrm xmlns:a="http://schemas.openxmlformats.org/drawingml/2006/main">
            <a:off x="4001792" y="2514600"/>
            <a:ext cx="7579317" cy="3695700"/>
          </a:xfrm>
          <a:prstGeom xmlns:a="http://schemas.openxmlformats.org/drawingml/2006/main" prst="rect">
            <a:avLst/>
          </a:prstGeom>
        </p:spPr>
      </p:pic>
      <p:sp>
        <p:nvSpPr>
          <p:cNvPr id="9" name="screenshot-caption">
            <a:extLst xmlns:a="http://schemas.openxmlformats.org/drawingml/2006/main">
              <a:ext uri="{FF2B5EF4-FFF2-40B4-BE49-F238E27FC236}">
                <a16:creationId xmlns:a16="http://schemas.microsoft.com/office/drawing/2014/main" id="{5F6FD8BD-40D8-4F0D-989A-2317A764E5E0}"/>
              </a:ext>
            </a:extLst>
          </p:cNvPr>
          <p:cNvSpPr>
            <a:spLocks xmlns:a="http://schemas.openxmlformats.org/drawingml/2006/main" noGrp="1"/>
          </p:cNvSpPr>
          <p:nvPr/>
        </p:nvSpPr>
        <p:spPr>
          <a:xfrm xmlns:a="http://schemas.openxmlformats.org/drawingml/2006/main">
            <a:off x="4000500" y="6200775"/>
            <a:ext cx="75819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526B80"/>
                </a:solidFill>
                <a:latin typeface="Calibri"/>
                <a:ea typeface="Calibri"/>
                <a:cs typeface="Calibri"/>
              </a:defRPr>
            </a:pPr>
            <a:r>
              <a:rPr sz="1425" b="0">
                <a:solidFill>
                  <a:srgbClr val="526B80"/>
                </a:solidFill>
                <a:latin typeface="Calibri"/>
                <a:ea typeface="Calibri"/>
                <a:cs typeface="Calibri"/>
              </a:rPr>
              <a:t>Prototip funcțional, cu date demonstrative</a:t>
            </a:r>
          </a:p>
        </p:txBody>
      </p:sp>
      <p:sp>
        <p:nvSpPr>
          <p:cNvPr id="10" name="author">
            <a:extLst xmlns:a="http://schemas.openxmlformats.org/drawingml/2006/main">
              <a:ext uri="{FF2B5EF4-FFF2-40B4-BE49-F238E27FC236}">
                <a16:creationId xmlns:a16="http://schemas.microsoft.com/office/drawing/2014/main" id="{F5B48260-31E1-4B1D-87BC-EF685B3E1027}"/>
              </a:ext>
            </a:extLst>
          </p:cNvPr>
          <p:cNvSpPr>
            <a:spLocks xmlns:a="http://schemas.openxmlformats.org/drawingml/2006/main" noGrp="1"/>
          </p:cNvSpPr>
          <p:nvPr/>
        </p:nvSpPr>
        <p:spPr>
          <a:xfrm xmlns:a="http://schemas.openxmlformats.org/drawingml/2006/main">
            <a:off x="609600" y="6400800"/>
            <a:ext cx="519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02A43"/>
                </a:solidFill>
                <a:latin typeface="Calibri"/>
                <a:ea typeface="Calibri"/>
                <a:cs typeface="Calibri"/>
              </a:defRPr>
            </a:pPr>
            <a:r>
              <a:rPr sz="1500" b="1">
                <a:solidFill>
                  <a:srgbClr val="102A43"/>
                </a:solidFill>
                <a:latin typeface="Calibri"/>
                <a:ea typeface="Calibri"/>
                <a:cs typeface="Calibri"/>
              </a:rPr>
              <a:t>Alexandru-Tudor Ungureanu</a:t>
            </a:r>
          </a:p>
        </p:txBody>
      </p:sp>
      <p:sp>
        <p:nvSpPr>
          <p:cNvPr id="11" name="defense-date">
            <a:extLst xmlns:a="http://schemas.openxmlformats.org/drawingml/2006/main">
              <a:ext uri="{FF2B5EF4-FFF2-40B4-BE49-F238E27FC236}">
                <a16:creationId xmlns:a16="http://schemas.microsoft.com/office/drawing/2014/main" id="{BA80EEB4-2ECB-40A1-8FCA-2EEF194A780E}"/>
              </a:ext>
            </a:extLst>
          </p:cNvPr>
          <p:cNvSpPr>
            <a:spLocks xmlns:a="http://schemas.openxmlformats.org/drawingml/2006/main" noGrp="1"/>
          </p:cNvSpPr>
          <p:nvPr/>
        </p:nvSpPr>
        <p:spPr>
          <a:xfrm xmlns:a="http://schemas.openxmlformats.org/drawingml/2006/main">
            <a:off x="7143750" y="6400800"/>
            <a:ext cx="443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B80"/>
                </a:solidFill>
                <a:latin typeface="Calibri"/>
                <a:ea typeface="Calibri"/>
                <a:cs typeface="Calibri"/>
              </a:defRPr>
            </a:pPr>
            <a:r>
              <a:rPr sz="1500" b="0">
                <a:solidFill>
                  <a:srgbClr val="526B80"/>
                </a:solidFill>
                <a:latin typeface="Calibri"/>
                <a:ea typeface="Calibri"/>
                <a:cs typeface="Calibri"/>
              </a:rPr>
              <a:t>Propunere de licență pentru februarie 2027</a:t>
            </a:r>
          </a:p>
        </p:txBody>
      </p:sp>
    </p:spTree>
    <p:extLst>
      <p:ext uri="{BB962C8B-B14F-4D97-AF65-F5344CB8AC3E}">
        <p14:creationId xmlns:p14="http://schemas.microsoft.com/office/powerpoint/2010/main" val="1666370033"/>
      </p:ext>
    </p:extLst>
  </p:cSld>
</p:sld>
</file>

<file path=ppt/slides/slide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4" name="technical-title">
            <a:extLst xmlns:a="http://schemas.openxmlformats.org/drawingml/2006/main">
              <a:ext uri="{FF2B5EF4-FFF2-40B4-BE49-F238E27FC236}">
                <a16:creationId xmlns:a16="http://schemas.microsoft.com/office/drawing/2014/main" id="{42639793-51E6-4A57-8954-57AB5289A0BD}"/>
              </a:ext>
            </a:extLst>
          </p:cNvPr>
          <p:cNvSpPr>
            <a:spLocks xmlns:a="http://schemas.openxmlformats.org/drawingml/2006/main" noGrp="1"/>
          </p:cNvSpPr>
          <p:nvPr/>
        </p:nvSpPr>
        <p:spPr>
          <a:xfrm xmlns:a="http://schemas.openxmlformats.org/drawingml/2006/main">
            <a:off x="571500" y="371475"/>
            <a:ext cx="110299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02A43"/>
                </a:solidFill>
                <a:latin typeface="Calibri"/>
                <a:ea typeface="Calibri"/>
                <a:cs typeface="Calibri"/>
              </a:defRPr>
            </a:pPr>
            <a:r>
              <a:rPr sz="3600" b="1">
                <a:solidFill>
                  <a:srgbClr val="102A43"/>
                </a:solidFill>
                <a:latin typeface="Calibri"/>
                <a:ea typeface="Calibri"/>
                <a:cs typeface="Calibri"/>
              </a:rPr>
              <a:t>Arhitectură și aspecte tehnice</a:t>
            </a:r>
          </a:p>
        </p:txBody>
      </p:sp>
      <p:sp>
        <p:nvSpPr>
          <p:cNvPr id="2" name="technology">
            <a:extLst xmlns:a="http://schemas.openxmlformats.org/drawingml/2006/main">
              <a:ext uri="{FF2B5EF4-FFF2-40B4-BE49-F238E27FC236}">
                <a16:creationId xmlns:a16="http://schemas.microsoft.com/office/drawing/2014/main" id="{404B3F39-4ACE-48BC-B15E-48FB93DF33D1}"/>
              </a:ext>
            </a:extLst>
          </p:cNvPr>
          <p:cNvSpPr>
            <a:spLocks xmlns:a="http://schemas.openxmlformats.org/drawingml/2006/main" noGrp="1"/>
          </p:cNvSpPr>
          <p:nvPr/>
        </p:nvSpPr>
        <p:spPr>
          <a:xfrm xmlns:a="http://schemas.openxmlformats.org/drawingml/2006/main">
            <a:off x="609600" y="107632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526B80"/>
                </a:solidFill>
                <a:latin typeface="Calibri"/>
                <a:ea typeface="Calibri"/>
                <a:cs typeface="Calibri"/>
              </a:defRPr>
            </a:pPr>
            <a:r>
              <a:rPr sz="2025" b="0">
                <a:solidFill>
                  <a:srgbClr val="526B80"/>
                </a:solidFill>
                <a:latin typeface="Calibri"/>
                <a:ea typeface="Calibri"/>
                <a:cs typeface="Calibri"/>
              </a:rPr>
              <a:t>Java 21 cu Quarkus, PostgreSQL, React cu TypeScript</a:t>
            </a:r>
          </a:p>
        </p:txBody>
      </p:sp>
      <p:sp>
        <p:nvSpPr>
          <p:cNvPr id="3" name="architecture-heading">
            <a:extLst xmlns:a="http://schemas.openxmlformats.org/drawingml/2006/main">
              <a:ext uri="{FF2B5EF4-FFF2-40B4-BE49-F238E27FC236}">
                <a16:creationId xmlns:a16="http://schemas.microsoft.com/office/drawing/2014/main" id="{7D49DA73-1584-4F8E-AF16-74C156B95359}"/>
              </a:ext>
            </a:extLst>
          </p:cNvPr>
          <p:cNvSpPr>
            <a:spLocks xmlns:a="http://schemas.openxmlformats.org/drawingml/2006/main" noGrp="1"/>
          </p:cNvSpPr>
          <p:nvPr/>
        </p:nvSpPr>
        <p:spPr>
          <a:xfrm xmlns:a="http://schemas.openxmlformats.org/drawingml/2006/main">
            <a:off x="609600" y="1809750"/>
            <a:ext cx="5162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02A43"/>
                </a:solidFill>
                <a:latin typeface="Calibri"/>
                <a:ea typeface="Calibri"/>
                <a:cs typeface="Calibri"/>
              </a:defRPr>
            </a:pPr>
            <a:r>
              <a:rPr sz="2175" b="1">
                <a:solidFill>
                  <a:srgbClr val="102A43"/>
                </a:solidFill>
                <a:latin typeface="Calibri"/>
                <a:ea typeface="Calibri"/>
                <a:cs typeface="Calibri"/>
              </a:rPr>
              <a:t>Arhitectură hexagonală</a:t>
            </a:r>
          </a:p>
        </p:txBody>
      </p:sp>
      <p:sp>
        <p:nvSpPr>
          <p:cNvPr id="4" name="architecture-body">
            <a:extLst xmlns:a="http://schemas.openxmlformats.org/drawingml/2006/main">
              <a:ext uri="{FF2B5EF4-FFF2-40B4-BE49-F238E27FC236}">
                <a16:creationId xmlns:a16="http://schemas.microsoft.com/office/drawing/2014/main" id="{F3138A28-EB2F-44F0-AB9B-8116C3EAB031}"/>
              </a:ext>
            </a:extLst>
          </p:cNvPr>
          <p:cNvSpPr>
            <a:spLocks xmlns:a="http://schemas.openxmlformats.org/drawingml/2006/main" noGrp="1"/>
          </p:cNvSpPr>
          <p:nvPr/>
        </p:nvSpPr>
        <p:spPr>
          <a:xfrm xmlns:a="http://schemas.openxmlformats.org/drawingml/2006/main">
            <a:off x="609600" y="2257425"/>
            <a:ext cx="50863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243B53"/>
                </a:solidFill>
                <a:latin typeface="Calibri"/>
                <a:ea typeface="Calibri"/>
                <a:cs typeface="Calibri"/>
              </a:defRPr>
            </a:pPr>
            <a:r>
              <a:rPr sz="2025" b="0">
                <a:solidFill>
                  <a:srgbClr val="243B53"/>
                </a:solidFill>
                <a:latin typeface="Calibri"/>
                <a:ea typeface="Calibri"/>
                <a:cs typeface="Calibri"/>
              </a:rPr>
              <a:t>Monolit modular cu separarea domeniului, serviciilor, porturilor și adaptoarelor.</a:t>
            </a:r>
          </a:p>
        </p:txBody>
      </p:sp>
      <p:sp>
        <p:nvSpPr>
          <p:cNvPr id="5" name="wilson-heading">
            <a:extLst xmlns:a="http://schemas.openxmlformats.org/drawingml/2006/main">
              <a:ext uri="{FF2B5EF4-FFF2-40B4-BE49-F238E27FC236}">
                <a16:creationId xmlns:a16="http://schemas.microsoft.com/office/drawing/2014/main" id="{19943C8B-0F25-4EDB-B8D1-A1179A3CB56E}"/>
              </a:ext>
            </a:extLst>
          </p:cNvPr>
          <p:cNvSpPr>
            <a:spLocks xmlns:a="http://schemas.openxmlformats.org/drawingml/2006/main" noGrp="1"/>
          </p:cNvSpPr>
          <p:nvPr/>
        </p:nvSpPr>
        <p:spPr>
          <a:xfrm xmlns:a="http://schemas.openxmlformats.org/drawingml/2006/main">
            <a:off x="609600" y="3505200"/>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02A43"/>
                </a:solidFill>
                <a:latin typeface="Calibri"/>
                <a:ea typeface="Calibri"/>
                <a:cs typeface="Calibri"/>
              </a:defRPr>
            </a:pPr>
            <a:r>
              <a:rPr sz="2175" b="1">
                <a:solidFill>
                  <a:srgbClr val="102A43"/>
                </a:solidFill>
                <a:latin typeface="Calibri"/>
                <a:ea typeface="Calibri"/>
                <a:cs typeface="Calibri"/>
              </a:rPr>
              <a:t>Ordonare cu Wilson</a:t>
            </a:r>
          </a:p>
        </p:txBody>
      </p:sp>
      <p:sp>
        <p:nvSpPr>
          <p:cNvPr id="6" name="wilson-body">
            <a:extLst xmlns:a="http://schemas.openxmlformats.org/drawingml/2006/main">
              <a:ext uri="{FF2B5EF4-FFF2-40B4-BE49-F238E27FC236}">
                <a16:creationId xmlns:a16="http://schemas.microsoft.com/office/drawing/2014/main" id="{DDBCF640-FE3C-4A8C-99B6-3EF8F32B01F0}"/>
              </a:ext>
            </a:extLst>
          </p:cNvPr>
          <p:cNvSpPr>
            <a:spLocks xmlns:a="http://schemas.openxmlformats.org/drawingml/2006/main" noGrp="1"/>
          </p:cNvSpPr>
          <p:nvPr/>
        </p:nvSpPr>
        <p:spPr>
          <a:xfrm xmlns:a="http://schemas.openxmlformats.org/drawingml/2006/main">
            <a:off x="609600" y="3952875"/>
            <a:ext cx="509587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243B53"/>
                </a:solidFill>
                <a:latin typeface="Calibri"/>
                <a:ea typeface="Calibri"/>
                <a:cs typeface="Calibri"/>
              </a:defRPr>
            </a:pPr>
            <a:r>
              <a:rPr sz="2025" b="0">
                <a:solidFill>
                  <a:srgbClr val="243B53"/>
                </a:solidFill>
                <a:latin typeface="Calibri"/>
                <a:ea typeface="Calibri"/>
                <a:cs typeface="Calibri"/>
              </a:rPr>
              <a:t>Limita inferioară la 95% ține cont de proporția voturilor pozitive și de numărul total de voturi.</a:t>
            </a:r>
          </a:p>
        </p:txBody>
      </p:sp>
      <p:sp>
        <p:nvSpPr>
          <p:cNvPr id="7" name="tests-heading">
            <a:extLst xmlns:a="http://schemas.openxmlformats.org/drawingml/2006/main">
              <a:ext uri="{FF2B5EF4-FFF2-40B4-BE49-F238E27FC236}">
                <a16:creationId xmlns:a16="http://schemas.microsoft.com/office/drawing/2014/main" id="{1C5B1317-C1E0-495E-A042-07345FD74EBE}"/>
              </a:ext>
            </a:extLst>
          </p:cNvPr>
          <p:cNvSpPr>
            <a:spLocks xmlns:a="http://schemas.openxmlformats.org/drawingml/2006/main" noGrp="1"/>
          </p:cNvSpPr>
          <p:nvPr/>
        </p:nvSpPr>
        <p:spPr>
          <a:xfrm xmlns:a="http://schemas.openxmlformats.org/drawingml/2006/main">
            <a:off x="609600" y="5248275"/>
            <a:ext cx="5143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02A43"/>
                </a:solidFill>
                <a:latin typeface="Calibri"/>
                <a:ea typeface="Calibri"/>
                <a:cs typeface="Calibri"/>
              </a:defRPr>
            </a:pPr>
            <a:r>
              <a:rPr sz="2175" b="1">
                <a:solidFill>
                  <a:srgbClr val="102A43"/>
                </a:solidFill>
                <a:latin typeface="Calibri"/>
                <a:ea typeface="Calibri"/>
                <a:cs typeface="Calibri"/>
              </a:rPr>
              <a:t>Teste automate</a:t>
            </a:r>
          </a:p>
        </p:txBody>
      </p:sp>
      <p:sp>
        <p:nvSpPr>
          <p:cNvPr id="8" name="tests-body">
            <a:extLst xmlns:a="http://schemas.openxmlformats.org/drawingml/2006/main">
              <a:ext uri="{FF2B5EF4-FFF2-40B4-BE49-F238E27FC236}">
                <a16:creationId xmlns:a16="http://schemas.microsoft.com/office/drawing/2014/main" id="{B190E39D-0255-4CA7-B52D-216B25C6F3AD}"/>
              </a:ext>
            </a:extLst>
          </p:cNvPr>
          <p:cNvSpPr>
            <a:spLocks xmlns:a="http://schemas.openxmlformats.org/drawingml/2006/main" noGrp="1"/>
          </p:cNvSpPr>
          <p:nvPr/>
        </p:nvSpPr>
        <p:spPr>
          <a:xfrm xmlns:a="http://schemas.openxmlformats.org/drawingml/2006/main">
            <a:off x="609600" y="5695950"/>
            <a:ext cx="5143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243B53"/>
                </a:solidFill>
                <a:latin typeface="Calibri"/>
                <a:ea typeface="Calibri"/>
                <a:cs typeface="Calibri"/>
              </a:defRPr>
            </a:pPr>
            <a:r>
              <a:rPr sz="1950" b="0">
                <a:solidFill>
                  <a:srgbClr val="243B53"/>
                </a:solidFill>
                <a:latin typeface="Calibri"/>
                <a:ea typeface="Calibri"/>
                <a:cs typeface="Calibri"/>
              </a:rPr>
              <a:t>Teste unitare pentru logica aplicației și teste pentru interfața REST.</a:t>
            </a:r>
          </a:p>
        </p:txBody>
      </p:sp>
      <p:sp>
        <p:nvSpPr>
          <p:cNvPr id="9" name="validation-heading">
            <a:extLst xmlns:a="http://schemas.openxmlformats.org/drawingml/2006/main">
              <a:ext uri="{FF2B5EF4-FFF2-40B4-BE49-F238E27FC236}">
                <a16:creationId xmlns:a16="http://schemas.microsoft.com/office/drawing/2014/main" id="{5BDF4BE1-FD7E-4C08-B492-6A0333802541}"/>
              </a:ext>
            </a:extLst>
          </p:cNvPr>
          <p:cNvSpPr>
            <a:spLocks xmlns:a="http://schemas.openxmlformats.org/drawingml/2006/main" noGrp="1"/>
          </p:cNvSpPr>
          <p:nvPr/>
        </p:nvSpPr>
        <p:spPr>
          <a:xfrm xmlns:a="http://schemas.openxmlformats.org/drawingml/2006/main">
            <a:off x="6362700" y="180975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02A43"/>
                </a:solidFill>
                <a:latin typeface="Calibri"/>
                <a:ea typeface="Calibri"/>
                <a:cs typeface="Calibri"/>
              </a:defRPr>
            </a:pPr>
            <a:r>
              <a:rPr sz="2175" b="1">
                <a:solidFill>
                  <a:srgbClr val="102A43"/>
                </a:solidFill>
                <a:latin typeface="Calibri"/>
                <a:ea typeface="Calibri"/>
                <a:cs typeface="Calibri"/>
              </a:rPr>
              <a:t>Validare pe server</a:t>
            </a:r>
          </a:p>
        </p:txBody>
      </p:sp>
      <p:sp>
        <p:nvSpPr>
          <p:cNvPr id="10" name="validation-body">
            <a:extLst xmlns:a="http://schemas.openxmlformats.org/drawingml/2006/main">
              <a:ext uri="{FF2B5EF4-FFF2-40B4-BE49-F238E27FC236}">
                <a16:creationId xmlns:a16="http://schemas.microsoft.com/office/drawing/2014/main" id="{F509F0C5-BB69-4016-91AA-165F84B3D4C4}"/>
              </a:ext>
            </a:extLst>
          </p:cNvPr>
          <p:cNvSpPr>
            <a:spLocks xmlns:a="http://schemas.openxmlformats.org/drawingml/2006/main" noGrp="1"/>
          </p:cNvSpPr>
          <p:nvPr/>
        </p:nvSpPr>
        <p:spPr>
          <a:xfrm xmlns:a="http://schemas.openxmlformats.org/drawingml/2006/main">
            <a:off x="6362700" y="2257425"/>
            <a:ext cx="52197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243B53"/>
                </a:solidFill>
                <a:latin typeface="Calibri"/>
                <a:ea typeface="Calibri"/>
                <a:cs typeface="Calibri"/>
              </a:defRPr>
            </a:pPr>
            <a:r>
              <a:rPr sz="2025" b="0">
                <a:solidFill>
                  <a:srgbClr val="243B53"/>
                </a:solidFill>
                <a:latin typeface="Calibri"/>
                <a:ea typeface="Calibri"/>
                <a:cs typeface="Calibri"/>
              </a:rPr>
              <a:t>ID-uri și tipuri de componente valide. Gadget-uri distincte, repartizabile în două rânduri de câte trei sloturi.</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f4ec7604ce9c4a75"/>
          <a:stretch xmlns:a="http://schemas.openxmlformats.org/drawingml/2006/main"/>
        </p:blipFill>
        <p:spPr>
          <a:xfrm xmlns:a="http://schemas.openxmlformats.org/drawingml/2006/main">
            <a:off x="6362700" y="3509125"/>
            <a:ext cx="5219700" cy="1801901"/>
          </a:xfrm>
          <a:prstGeom xmlns:a="http://schemas.openxmlformats.org/drawingml/2006/main" prst="rect">
            <a:avLst/>
          </a:prstGeom>
        </p:spPr>
      </p:pic>
      <p:sp>
        <p:nvSpPr>
          <p:cNvPr id="12" name="gadget-caption">
            <a:extLst xmlns:a="http://schemas.openxmlformats.org/drawingml/2006/main">
              <a:ext uri="{FF2B5EF4-FFF2-40B4-BE49-F238E27FC236}">
                <a16:creationId xmlns:a16="http://schemas.microsoft.com/office/drawing/2014/main" id="{4727126E-72A2-4B10-A368-90BEC9D4E3B5}"/>
              </a:ext>
            </a:extLst>
          </p:cNvPr>
          <p:cNvSpPr>
            <a:spLocks xmlns:a="http://schemas.openxmlformats.org/drawingml/2006/main" noGrp="1"/>
          </p:cNvSpPr>
          <p:nvPr/>
        </p:nvSpPr>
        <p:spPr>
          <a:xfrm xmlns:a="http://schemas.openxmlformats.org/drawingml/2006/main">
            <a:off x="6362700" y="5381625"/>
            <a:ext cx="521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B80"/>
                </a:solidFill>
                <a:latin typeface="Calibri"/>
                <a:ea typeface="Calibri"/>
                <a:cs typeface="Calibri"/>
              </a:defRPr>
            </a:pPr>
            <a:r>
              <a:rPr sz="1500" b="0">
                <a:solidFill>
                  <a:srgbClr val="526B80"/>
                </a:solidFill>
                <a:latin typeface="Calibri"/>
                <a:ea typeface="Calibri"/>
                <a:cs typeface="Calibri"/>
              </a:rPr>
              <a:t>Exemplu valid: costuri de 1, 3 și 2 sloturi</a:t>
            </a:r>
          </a:p>
        </p:txBody>
      </p:sp>
      <p:sp>
        <p:nvSpPr>
          <p:cNvPr id="13" name="discussion">
            <a:extLst xmlns:a="http://schemas.openxmlformats.org/drawingml/2006/main">
              <a:ext uri="{FF2B5EF4-FFF2-40B4-BE49-F238E27FC236}">
                <a16:creationId xmlns:a16="http://schemas.microsoft.com/office/drawing/2014/main" id="{ED53FC67-EE71-405F-8827-6AE8C0D48608}"/>
              </a:ext>
            </a:extLst>
          </p:cNvPr>
          <p:cNvSpPr>
            <a:spLocks xmlns:a="http://schemas.openxmlformats.org/drawingml/2006/main" noGrp="1"/>
          </p:cNvSpPr>
          <p:nvPr/>
        </p:nvSpPr>
        <p:spPr>
          <a:xfrm xmlns:a="http://schemas.openxmlformats.org/drawingml/2006/main">
            <a:off x="6362700" y="5857875"/>
            <a:ext cx="52197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0979BE"/>
                </a:solidFill>
                <a:latin typeface="Calibri"/>
                <a:ea typeface="Calibri"/>
                <a:cs typeface="Calibri"/>
              </a:defRPr>
            </a:pPr>
            <a:r>
              <a:rPr sz="1875" b="1">
                <a:solidFill>
                  <a:srgbClr val="0979BE"/>
                </a:solidFill>
                <a:latin typeface="Calibri"/>
                <a:ea typeface="Calibri"/>
                <a:cs typeface="Calibri"/>
              </a:rPr>
              <a:t>De discutat: evaluarea soluției și obiectivele finale ale lucrării.</a:t>
            </a:r>
          </a:p>
        </p:txBody>
      </p:sp>
    </p:spTree>
    <p:extLst>
      <p:ext uri="{BB962C8B-B14F-4D97-AF65-F5344CB8AC3E}">
        <p14:creationId xmlns:p14="http://schemas.microsoft.com/office/powerpoint/2010/main" val="12852467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2026-09-12T14:42:56.9260000Z</dcterms:created>
  <dcterms:modified xsi:type="dcterms:W3CDTF">2026-09-12T14:42:56.9260000Z</dcterms:modified>
</coreProperties>
</file>